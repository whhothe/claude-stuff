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5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6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Views</c:v>
                </c:pt>
              </c:strCache>
            </c:strRef>
          </c:tx>
          <c:spPr>
            <a:solidFill>
              <a:srgbClr val="00D4A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SIRIUS (300K subs)</c:v>
                  </c:pt>
                  <c:pt idx="1">
                    <c:v>Chilling Scares (2.86M subs)</c:v>
                  </c:pt>
                  <c:pt idx="2">
                    <c:v>Abyssal Detective (494K subs)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2810000</c:v>
                </c:pt>
                <c:pt idx="1">
                  <c:v>318000</c:v>
                </c:pt>
                <c:pt idx="2">
                  <c:v>138000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CA3A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B1120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9CA3A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B1120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9CA3AF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Hours/month</c:v>
                </c:pt>
              </c:strCache>
            </c:strRef>
          </c:tx>
          <c:spPr>
            <a:solidFill>
              <a:srgbClr val="FF6B6B"/>
            </a:solidFill>
            <a:effectLst/>
          </c:spPr>
          <c:invertIfNegative val="0"/>
          <c:dLbls>
            <c:numFmt formatCode="0.0&quot; hrs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Abyssal Network</c:v>
                  </c:pt>
                  <c:pt idx="1">
                    <c:v>GOHA Moments</c:v>
                  </c:pt>
                  <c:pt idx="2">
                    <c:v>Chilling Scares</c:v>
                  </c:pt>
                  <c:pt idx="3">
                    <c:v>Nexpo</c:v>
                  </c:pt>
                  <c:pt idx="4">
                    <c:v>SIRIUS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18.3</c:v>
                </c:pt>
                <c:pt idx="1">
                  <c:v>1.8</c:v>
                </c:pt>
                <c:pt idx="2">
                  <c:v>1.1</c:v>
                </c:pt>
                <c:pt idx="3">
                  <c:v>1</c:v>
                </c:pt>
                <c:pt idx="4">
                  <c:v>0.3</c:v>
                </c:pt>
              </c:numCache>
            </c:numRef>
          </c:val>
        </c:ser>
        <c:dLbls>
          <c:numFmt formatCode="0.0&quot; hrs&quot;" sourceLinked="0"/>
          <c:txPr>
            <a:bodyPr/>
            <a:lstStyle/>
            <a:p>
              <a:pPr>
                <a:defRPr b="0" i="0" strike="noStrike" sz="1300" u="none">
                  <a:solidFill>
                    <a:srgbClr val="FFFFF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CA3A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B1120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CA3A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B1120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Minutes</c:v>
                </c:pt>
              </c:strCache>
            </c:strRef>
          </c:tx>
          <c:spPr>
            <a:solidFill>
              <a:srgbClr val="FF6B6B"/>
            </a:solidFill>
            <a:effectLst/>
          </c:spPr>
          <c:invertIfNegative val="0"/>
          <c:dLbls>
            <c:numFmt formatCode="0&quot; min&quot;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AD1 average</c:v>
                  </c:pt>
                  <c:pt idx="1">
                    <c:v>AO average</c:v>
                  </c:pt>
                  <c:pt idx="2">
                    <c:v>AD2 average</c:v>
                  </c:pt>
                  <c:pt idx="3">
                    <c:v>1M+ view sweet spot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59</c:v>
                </c:pt>
                <c:pt idx="1">
                  <c:v>57</c:v>
                </c:pt>
                <c:pt idx="2">
                  <c:v>48</c:v>
                </c:pt>
                <c:pt idx="3">
                  <c:v>28</c:v>
                </c:pt>
              </c:numCache>
            </c:numRef>
          </c:val>
        </c:ser>
        <c:dLbls>
          <c:numFmt formatCode="0&quot; min&quot;" sourceLinked="0"/>
          <c:txPr>
            <a:bodyPr/>
            <a:lstStyle/>
            <a:p>
              <a:pPr>
                <a:defRPr b="0" i="0" strike="noStrike" sz="1400" u="none">
                  <a:solidFill>
                    <a:srgbClr val="FFFFF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CA3A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B1120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Views</c:v>
                </c:pt>
              </c:strCache>
            </c:strRef>
          </c:tx>
          <c:spPr>
            <a:solidFill>
              <a:srgbClr val="00D4A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TLC</c:v>
                  </c:pt>
                  <c:pt idx="1">
                    <c:v>To Catch a Predator</c:v>
                  </c:pt>
                  <c:pt idx="2">
                    <c:v>Intervention</c:v>
                  </c:pt>
                  <c:pt idx="3">
                    <c:v>My Strange Addiction</c:v>
                  </c:pt>
                  <c:pt idx="4">
                    <c:v>90 Day Fiancé</c:v>
                  </c:pt>
                  <c:pt idx="5">
                    <c:v>Marvel</c:v>
                  </c:pt>
                  <c:pt idx="6">
                    <c:v>Anime</c:v>
                  </c:pt>
                  <c:pt idx="7">
                    <c:v>Chinese Shows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1440848</c:v>
                </c:pt>
                <c:pt idx="1">
                  <c:v>953849</c:v>
                </c:pt>
                <c:pt idx="2">
                  <c:v>631353</c:v>
                </c:pt>
                <c:pt idx="3">
                  <c:v>613773</c:v>
                </c:pt>
                <c:pt idx="4">
                  <c:v>527895</c:v>
                </c:pt>
                <c:pt idx="5">
                  <c:v>39545</c:v>
                </c:pt>
                <c:pt idx="6">
                  <c:v>45563</c:v>
                </c:pt>
                <c:pt idx="7">
                  <c:v>54395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CA3A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B1120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64592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Strategist Application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6517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Abyssal Network  —  NIA Production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niche is thriving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914400"/>
          <a:ext cx="804672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44805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niche, same format — they’re growing, Abyssal is declining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731520"/>
            <a:ext cx="8229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98%</a:t>
            </a:r>
            <a:endParaRPr lang="en-US" sz="12000" dirty="0"/>
          </a:p>
        </p:txBody>
      </p:sp>
      <p:sp>
        <p:nvSpPr>
          <p:cNvPr id="3" name="Text 1"/>
          <p:cNvSpPr txBox="1"/>
          <p:nvPr/>
        </p:nvSpPr>
        <p:spPr>
          <a:xfrm>
            <a:off x="1371600" y="27432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328 videos use the same title formula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33832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Most Disturbing [X] Iceberg"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uploads = fewer views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914400"/>
          <a:ext cx="80467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42976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−87%  /  −86%  /  −78%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viewer time asked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914400"/>
          <a:ext cx="804672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44805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17x more than the nearest competitor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channels, 3 sub counts, 1 floor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1887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494K</a:t>
            </a:r>
            <a:endParaRPr lang="en-US" sz="5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0116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3774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8346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138K</a:t>
            </a:r>
            <a:endParaRPr lang="en-US" sz="52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657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views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114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566160" y="11887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274K</a:t>
            </a:r>
            <a:endParaRPr lang="en-US" sz="5200" dirty="0"/>
          </a:p>
        </p:txBody>
      </p:sp>
      <p:sp>
        <p:nvSpPr>
          <p:cNvPr id="10" name="Text 8"/>
          <p:cNvSpPr txBox="1"/>
          <p:nvPr/>
        </p:nvSpPr>
        <p:spPr>
          <a:xfrm>
            <a:off x="3566160" y="20116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subscribers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566160" y="23774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28346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127K</a:t>
            </a:r>
            <a:endParaRPr lang="en-US" sz="5200" dirty="0"/>
          </a:p>
        </p:txBody>
      </p:sp>
      <p:sp>
        <p:nvSpPr>
          <p:cNvPr id="13" name="Text 11"/>
          <p:cNvSpPr txBox="1"/>
          <p:nvPr/>
        </p:nvSpPr>
        <p:spPr>
          <a:xfrm>
            <a:off x="3566160" y="3657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views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566160" y="4114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11887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123K</a:t>
            </a:r>
            <a:endParaRPr lang="en-US" sz="52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0" y="20116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subscribers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0" y="23774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0" y="28346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110K</a:t>
            </a:r>
            <a:endParaRPr lang="en-US" sz="52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3657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views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0" y="4114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AD2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48640"/>
            <a:ext cx="8229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−75%</a:t>
            </a:r>
            <a:endParaRPr lang="en-US" sz="12000" dirty="0"/>
          </a:p>
        </p:txBody>
      </p:sp>
      <p:sp>
        <p:nvSpPr>
          <p:cNvPr id="3" name="Text 1"/>
          <p:cNvSpPr txBox="1"/>
          <p:nvPr/>
        </p:nvSpPr>
        <p:spPr>
          <a:xfrm>
            <a:off x="1371600" y="25603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sequel decline across 54 videos</a:t>
            </a:r>
            <a:endParaRPr lang="en-US" sz="1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1371600" y="3200400"/>
          <a:ext cx="6400800" cy="1645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 mismatch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914400"/>
          <a:ext cx="804672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44805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2.1x longer than what actually performs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I’d change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97280" y="1097280"/>
            <a:ext cx="411480" cy="41148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97280" y="1097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737360" y="10972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Diversify titles — 3–4 frameworks in rotation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97280" y="1828800"/>
            <a:ext cx="411480" cy="41148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97280" y="1828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737360" y="182880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videos/month → 12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97280" y="2560320"/>
            <a:ext cx="411480" cy="41148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97280" y="2560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737360" y="25603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sequel numbering — standalone titles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97280" y="3291840"/>
            <a:ext cx="411480" cy="41148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97280" y="3291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737360" y="32918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30–40 min standard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97280" y="4023360"/>
            <a:ext cx="411480" cy="41148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97280" y="4023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737360" y="40233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Sharpen channel lanes — AD1: footage, AD2: original, AO: named shows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AD1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Most Disturbing Hotels Iceberg"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6459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50–55 min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2860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3566160" y="16459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22–26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3566160" y="22860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cases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16459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results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22860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all of YouTube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0175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Cecil Hotel · Mandalay Bay · H.H. Holmes · Hyatt collapse (114 dead)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MGM fire (85 dead) · Erin Andrews $55M · trafficking MDL $500M–$1B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41148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a new lane: airports, hospitals, national parks, schools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AD2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Most Disturbing Elevator &amp; Escalator Incidents Iceberg"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6459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30–35 min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2860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 (↓ from 48 avg)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3566160" y="16459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20–24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3566160" y="22860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cases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16459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results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22860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all of YouTube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0175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Jingzhou escalator · Rome Metro 2018 · Samuel Waisbren NYC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Vaal Reefs Mine (104 dead) · WTC elevators on 9/11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41148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original content on AD2 — not a sequel, not AD1 overflow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AO: Named shows vs generic topics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822960"/>
          <a:ext cx="59436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583680" y="164592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15.6x</a:t>
            </a:r>
            <a:endParaRPr lang="en-US" sz="6400" dirty="0"/>
          </a:p>
        </p:txBody>
      </p:sp>
      <p:sp>
        <p:nvSpPr>
          <p:cNvPr id="5" name="Text 2"/>
          <p:cNvSpPr txBox="1"/>
          <p:nvPr/>
        </p:nvSpPr>
        <p:spPr>
          <a:xfrm>
            <a:off x="6583680" y="2743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Most Disturbing Kitchen Nightmares Iceberg"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6459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45–50 min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2860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3566160" y="16459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16–20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3566160" y="22860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cases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16459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results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22860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all of YouTube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0175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 closure rate · Amy’s Baking Company · Samy Bouzaglo deported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Joe Cerniglia suicide · $3M Dillons lawsuit · 10M+ subs on official KN channel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41148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to the strategy that made AO successful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37160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format is not aging.</a:t>
            </a:r>
            <a:endParaRPr lang="en-US" sz="3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format is being overproduced.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iceberg rare again.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2026-09-23T12:47:07Z</dcterms:created>
  <dcterms:modified xsi:type="dcterms:W3CDTF">2026-09-23T12:47:07Z</dcterms:modified>
</cp:coreProperties>
</file>