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0" y="548640"/>
            <a:ext cx="1280160" cy="1280160"/>
          </a:xfrm>
          <a:prstGeom prst="ellipse">
            <a:avLst/>
          </a:prstGeom>
          <a:solidFill>
            <a:srgbClr val="00D4AA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Creative Strategist</a:t>
            </a:r>
            <a:endParaRPr lang="en-US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926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NIA Production  —  Abyssal Network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Questions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794760" cy="3200400"/>
          </a:xfrm>
          <a:prstGeom prst="roundRect">
            <a:avLst>
              <a:gd name="adj" fmla="val 2286"/>
            </a:avLst>
          </a:prstGeom>
          <a:solidFill>
            <a:srgbClr val="151D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2801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is the Abyssal Network failing?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Brand-wide and per channel — why are baseline views declining?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794760" cy="3200400"/>
          </a:xfrm>
          <a:prstGeom prst="roundRect">
            <a:avLst>
              <a:gd name="adj" fmla="val 2286"/>
            </a:avLst>
          </a:prstGeom>
          <a:solidFill>
            <a:srgbClr val="151D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74920" y="12801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074920" y="1783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three new video ideas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074920" y="24688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channel: framework, hook, what to change, how it differs, why it wins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Niche is Thriving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is not broken — competitors in the same space are exploding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51D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SIRIUS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00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2.81M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40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views/video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300K subs · only 18 videos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09728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51D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6616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Chilling Scares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600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318K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240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Day-1 median views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2.86M subs · +18.6% annual growth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09728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51D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Chaos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1600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1.19M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240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on ONE video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1,550 subscribers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8046720" cy="685800"/>
          </a:xfrm>
          <a:prstGeom prst="roundRect">
            <a:avLst>
              <a:gd name="adj" fmla="val 10667"/>
            </a:avLst>
          </a:prstGeom>
          <a:solidFill>
            <a:srgbClr val="151D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Like-to-view ratio stable across all channels (1.86% → 2.91%) — the people who find the videos still enjoy them. This is a reach problem, not a quality problem.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Systemic Failures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across all three channels — not channel-specific problems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151D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234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554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Monoculture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 of 328 videos use the same title formula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1097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151D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66160" y="1234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1554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Death Spiral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920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videos/month — 18.3 hours of content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097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151D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1234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1554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Channel Convergence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920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channels, 3 sub counts, 1 identical floor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7889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151D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2926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246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Sequel Decay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3611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−75% average decline across 54 sequels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27889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151D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66160" y="2926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566160" y="3246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Duration Mismatch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3611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min avg vs 28 min outlier sweet spot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7889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151D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0" y="2926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3246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Exhaustion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611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A-tier topics used up, barrel-scraping begins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  Title Monoculture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3749040" cy="3474720"/>
          </a:xfrm>
          <a:prstGeom prst="roundRect">
            <a:avLst>
              <a:gd name="adj" fmla="val 2105"/>
            </a:avLst>
          </a:prstGeom>
          <a:solidFill>
            <a:srgbClr val="151D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328 videos titled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Most Disturbing [X] Iceberg"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 out of 328 videos across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channels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840480" cy="3474720"/>
          </a:xfrm>
          <a:prstGeom prst="roundRect">
            <a:avLst>
              <a:gd name="adj" fmla="val 2105"/>
            </a:avLst>
          </a:prstGeom>
          <a:solidFill>
            <a:srgbClr val="151D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83480" y="1143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competitors title instead: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983480" y="1554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"120 Incredible Moments Caught on Camera"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983480" y="18288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GOHA — 6.78M views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22402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"When Truckers Put An End To Road Madness"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25146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MachRush — 2.57M views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983480" y="29260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"FBI's 10 Most Wanted Explained"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983480" y="32004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Chilling Scares — 9.9M views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983480" y="36118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"4chan Threads That Triggered FBI Investigations"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38862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AD1's one non-iceberg title — 407K (above 2026 avg)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#2  The Volume Death Spiral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channel: more uploads = fewer views per video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960120"/>
                <a:gridCol w="868680"/>
                <a:gridCol w="960120"/>
                <a:gridCol w="868680"/>
                <a:gridCol w="685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Uploads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Views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Uploads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Views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4/month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1,036,646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7–8/month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3/month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8/month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~3/month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584,974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~7/month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126,735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05156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151D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217920" y="1188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viewer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asked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16916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18.3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6217920" y="2377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hrs/month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2834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Chilling Scares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31089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hrs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3474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17x less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361188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151D2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1520" y="3703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math: 4 videos × 350K = 1.4M monthly views. 8 videos × 128K = 1.02M monthly views.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videos would generate MORE total views and revenue.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#3  Channel Convergence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different subscriber counts have converged to one identical floor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151D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Abyssal Detective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54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373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494K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774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Avg Views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60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138K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3383280" y="109728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151D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1234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Abyssal Observer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54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Subscribers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373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274K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23774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Avg Views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560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127K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6217920" y="109728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151D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55080" y="1234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Abyssal Detective 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15544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17373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123K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23774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Avg Views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560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110K</a:t>
            </a:r>
            <a:endParaRPr lang="en-US" sz="3200" dirty="0"/>
          </a:p>
        </p:txBody>
      </p:sp>
      <p:sp>
        <p:nvSpPr>
          <p:cNvPr id="22" name="Shape 20"/>
          <p:cNvSpPr/>
          <p:nvPr/>
        </p:nvSpPr>
        <p:spPr>
          <a:xfrm>
            <a:off x="548640" y="393192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151D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400507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doesn’t see three channels. It sees one brand producing 20 identical-looking videos per month and has learned to throttle all of them.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#4  Universal Sequel Decay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914400"/>
                <a:gridCol w="914400"/>
                <a:gridCol w="8229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Views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Latest Volume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AD1 Dashcam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1,189,689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Vol.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61,002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AD1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3,173,932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Vol.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131,744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AD2 Theme Park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1,194,153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Vol.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91,033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AD2 Live 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791,394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Vol.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106,570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 Talent Show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455,466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Vol.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77,091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92240" y="960120"/>
            <a:ext cx="2148840" cy="2468880"/>
          </a:xfrm>
          <a:prstGeom prst="roundRect">
            <a:avLst>
              <a:gd name="adj" fmla="val 3404"/>
            </a:avLst>
          </a:prstGeom>
          <a:solidFill>
            <a:srgbClr val="151D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583680" y="10972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−75%</a:t>
            </a:r>
            <a:endParaRPr lang="en-US" sz="64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2331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across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sequel videos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3611880"/>
            <a:ext cx="8092440" cy="731520"/>
          </a:xfrm>
          <a:prstGeom prst="roundRect">
            <a:avLst>
              <a:gd name="adj" fmla="val 10000"/>
            </a:avLst>
          </a:prstGeom>
          <a:solidFill>
            <a:srgbClr val="151D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" y="3657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exception: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93192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AD2's "Things on Asian Internet" grew from 602K to 1.17M between volumes (+94%). Why? Because the topic was genuinely novel.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#5–6  Duration &amp; Topic Exhaustion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3749040" cy="3383280"/>
          </a:xfrm>
          <a:prstGeom prst="roundRect">
            <a:avLst>
              <a:gd name="adj" fmla="val 2162"/>
            </a:avLst>
          </a:prstGeom>
          <a:solidFill>
            <a:srgbClr val="151D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Mismatch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33832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8016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AD1 average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 average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AD2 average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Outlier sweet spot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(1M+ views)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31520" y="33375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AD1 is 2.1x longer than what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performs best in this niche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754880" y="1005840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151D2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37760" y="1097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Exhaustion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14630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topics (1M–4M views):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1691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Footage Caught on Camera · CCTV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Mysteries · Instagram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TV · TikTok · Dashcam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topics (40K–78K views):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937760" y="2697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Biblical Horrors · Amazon Incidents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Food · Fishing Encounters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 Shattering Cases · Marvel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34747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20 videos/month, A-tier topics were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exhausted 5x faster than necessary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Tactical Fixes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within the existing channel structure — no merging, rebranding, or dismantling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151D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13232" y="1161288"/>
            <a:ext cx="384048" cy="38404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161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1247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Diversification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3716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3–4 title frameworks in rotation. Reserve “Iceberg” for 1–2 premium uploads per channel per month.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80136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151D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8928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13232" y="1911096"/>
            <a:ext cx="384048" cy="38404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Upload Cadence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12140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~20/month network-wide to ~12. Each video gets a longer algorithmic runway. Fewer videos = more total views.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255117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151D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26426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13232" y="2660904"/>
            <a:ext cx="384048" cy="38404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13232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2624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Kill Sequel Numbering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287121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topics, standalone titles. “Dashcam Vol. 6” becomes “The Russian Dashcam Footage That Went Viral.”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009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151D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3924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13232" y="3410712"/>
            <a:ext cx="384048" cy="38404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13232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33741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Duration Optimization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362102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30–40 min standard. Reserve 55+ min for quarterly event icebergs only.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05079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151D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4142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13232" y="4160520"/>
            <a:ext cx="384048" cy="38404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3232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4123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Sharpen Channel Lanes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280160" y="437083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AD1: caught-on-camera footage. AD2: original standalone content. AO: named TV show icebergs.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0" y="731520"/>
            <a:ext cx="1280160" cy="1280160"/>
          </a:xfrm>
          <a:prstGeom prst="ellipse">
            <a:avLst/>
          </a:prstGeom>
          <a:solidFill>
            <a:srgbClr val="00D4AA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2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Video Pitches — One Per Channel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880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topic verified as novel across YouTube and all 330 Abyssal videos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AD1  —  "the Most Disturbing Hotels Iceberg"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a new content dimension: location instead of footage type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51D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50–55 min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697480" y="1005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51D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8892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22–26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1417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Cases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846320" y="1005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51D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7+1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1417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Levels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160" y="1005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51D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08660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1417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on YouTube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1965960"/>
            <a:ext cx="4206240" cy="2651760"/>
          </a:xfrm>
          <a:prstGeom prst="roundRect">
            <a:avLst>
              <a:gd name="adj" fmla="val 2759"/>
            </a:avLst>
          </a:prstGeom>
          <a:solidFill>
            <a:srgbClr val="151D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Iceberg Structure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377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L1–2  Famous hotels: Cecil Hotel, Mandalay Bay, H.H. Holmes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27066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 Disasters: Hyatt collapse (114 dead), MGM fire (85 dead), Winecoff (119 dead)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0358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 Hidden cameras: Erin Andrews $55M, S. Korean spy ring (42 rooms)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3649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 Serial killers: Cottingham, I-65 Killer, Craigslist Killer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941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  Trafficking: Days Inn $24M, nationwide MDL $500M–$1B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0233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L7  Forgotten cases: Hotel New World collapse, Cecil’s 1960s victims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1965960"/>
            <a:ext cx="3657600" cy="2651760"/>
          </a:xfrm>
          <a:prstGeom prst="roundRect">
            <a:avLst>
              <a:gd name="adj" fmla="val 2759"/>
            </a:avLst>
          </a:prstGeom>
          <a:solidFill>
            <a:srgbClr val="151D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0" y="2057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Strategic Changes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23774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Location-based content lane (not another footage type)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27432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Opens future: airports, hospitals, national parks, schools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31089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Sound-design hook: hotel door clicking shut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347472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Thematic transitions between levels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384048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Every case backed by fire reports, court records, police files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AD2  —  "the Most Disturbing Elevator &amp; Escalator Incidents Iceberg"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standalone content — not a sequel, not AD1’s overflow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51D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 min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(↓ from 48 avg)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697480" y="1005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51D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78892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20–24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1417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Cases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846320" y="1005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51D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1417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160" y="1005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151D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086600" y="1051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1417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on YouTube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1965960"/>
            <a:ext cx="4023360" cy="2606040"/>
          </a:xfrm>
          <a:prstGeom prst="roundRect">
            <a:avLst>
              <a:gd name="adj" fmla="val 2807"/>
            </a:avLst>
          </a:prstGeom>
          <a:solidFill>
            <a:srgbClr val="151D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AD2 Problem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377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description literally says: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is official channel on which I will post Vol. 3+ videos for my most popular series.”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3017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of AD2’s 80 videos are sequels of AD1 series.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original — “Asian Internet” — grew +94% between volumes.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pitch proves AD2 can stand on its own.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196596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151D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37760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Elevators Work for AD2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23774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Universal fear: everyone uses elevators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937760" y="276148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Near-universal CCTV: footage always exists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31455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Natural iceberg escalation: glitch → entrapment → catastrophe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352958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Key cases: Jingzhou escalator (billions of impressions), Chile elevator (1M+ on CBS), WTC elevators (9/11)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937760" y="391363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Footage-first pacing: 1:1 narration-to-footage ratio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 —  "the Most Disturbing Kitchen Nightmares Iceberg"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to the strategy that made AO successful: named TV shows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4023360" cy="3520440"/>
          </a:xfrm>
          <a:prstGeom prst="roundRect">
            <a:avLst>
              <a:gd name="adj" fmla="val 2078"/>
            </a:avLst>
          </a:prstGeom>
          <a:solidFill>
            <a:srgbClr val="151D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097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Shows vs Generic Topics on AO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5544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Shows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Views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1,440,848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Catch a Predator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953,849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Strange Addiction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613,773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Day Fiancé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527,895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777,580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383280"/>
          <a:ext cx="3657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5544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Topics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Views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Marvel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Anime Based on Real Events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45,563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Chinese Shows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49,930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4754880" y="1005840"/>
            <a:ext cx="3840480" cy="3520440"/>
          </a:xfrm>
          <a:prstGeom prst="roundRect">
            <a:avLst>
              <a:gd name="adj" fmla="val 2078"/>
            </a:avLst>
          </a:prstGeom>
          <a:solidFill>
            <a:srgbClr val="151D2E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937760" y="10972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15.6x</a:t>
            </a:r>
            <a:endParaRPr lang="en-US" sz="4800" dirty="0"/>
          </a:p>
        </p:txBody>
      </p:sp>
      <p:sp>
        <p:nvSpPr>
          <p:cNvPr id="10" name="Text 6"/>
          <p:cNvSpPr txBox="1"/>
          <p:nvPr/>
        </p:nvSpPr>
        <p:spPr>
          <a:xfrm>
            <a:off x="4937760" y="16916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gap: named shows vs generic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937760" y="21031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Kitchen Nightmares: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2377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10M+ subs on official KN YouTube channel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6700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Zero coverage across 330 Abyssal videos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9626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Zero iceberg on all of YouTube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32552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82% of featured restaurants have closed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493776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Lawsuits, criminal records, deaths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937760" y="3840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Emotional arc: comedy → shock → grief → moral reckoning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4937760" y="41330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45–50 min  ·  16–20 cases  ·  7 levels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Pitches — At a Glance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14400"/>
          <a:ext cx="80467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286000"/>
                <a:gridCol w="22860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AD1: Hotels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AD2: Elevators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AO: Kitchen Nightmares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50–55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30–35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45–50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22–26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20–24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16–20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 on YT?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zero results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zero results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zero results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 in 330?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zero results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zero results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zero results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Lane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standalone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TV show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Change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organizing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non-sequel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AD2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to winning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 Future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Airports, hospitals,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nat'l parks, schools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Subway, construction,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incidents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Hell's Kitchen, AGT,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 Brother, Bachelor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11480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151D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cases real and sourced  ·  All topics verified novel across YouTube  ·  All recommendations tactical, not structural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0" y="457200"/>
            <a:ext cx="1280160" cy="1280160"/>
          </a:xfrm>
          <a:prstGeom prst="ellipse">
            <a:avLst/>
          </a:prstGeom>
          <a:solidFill>
            <a:srgbClr val="00D4AA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format is not aging.</a:t>
            </a:r>
            <a:endParaRPr lang="en-US" sz="2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format is being overproduced.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43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iceberg rare again.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considering my application.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Creative Strategist Application</dc:creator>
  <cp:lastModifiedBy>Creative Strategist Application</cp:lastModifiedBy>
  <cp:revision>1</cp:revision>
  <dcterms:created xsi:type="dcterms:W3CDTF">2026-09-23T12:31:04Z</dcterms:created>
  <dcterms:modified xsi:type="dcterms:W3CDTF">2026-09-23T12:31:04Z</dcterms:modified>
</cp:coreProperties>
</file>